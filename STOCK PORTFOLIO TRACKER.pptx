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6/3/2026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6/3/2026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37FC1-B8E9-9224-FE5B-ABDD6BAAAF5A}"/>
              </a:ext>
            </a:extLst>
          </p:cNvPr>
          <p:cNvSpPr>
            <a:spLocks noGrp="1"/>
          </p:cNvSpPr>
          <p:nvPr>
            <p:ph type="ctrTitle"/>
          </p:nvPr>
        </p:nvSpPr>
        <p:spPr/>
        <p:txBody>
          <a:bodyPr>
            <a:normAutofit/>
          </a:bodyPr>
          <a:lstStyle/>
          <a:p>
            <a:r>
              <a:rPr lang="en-IN" sz="5400" dirty="0">
                <a:latin typeface="Times New Roman" panose="02020603050405020304" pitchFamily="18" charset="0"/>
                <a:cs typeface="Times New Roman" panose="02020603050405020304" pitchFamily="18" charset="0"/>
              </a:rPr>
              <a:t>STOCK PORTFOLIO TRACKER</a:t>
            </a:r>
          </a:p>
        </p:txBody>
      </p:sp>
      <p:sp>
        <p:nvSpPr>
          <p:cNvPr id="4" name="TextBox 3">
            <a:extLst>
              <a:ext uri="{FF2B5EF4-FFF2-40B4-BE49-F238E27FC236}">
                <a16:creationId xmlns:a16="http://schemas.microsoft.com/office/drawing/2014/main" id="{3A4C2B2A-6A90-2989-7F7F-D5BFE62AE61A}"/>
              </a:ext>
            </a:extLst>
          </p:cNvPr>
          <p:cNvSpPr txBox="1"/>
          <p:nvPr/>
        </p:nvSpPr>
        <p:spPr>
          <a:xfrm>
            <a:off x="8436077" y="4896465"/>
            <a:ext cx="3677265" cy="120032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D.SPOORTHI</a:t>
            </a:r>
          </a:p>
          <a:p>
            <a:r>
              <a:rPr lang="en-IN" dirty="0">
                <a:latin typeface="Times New Roman" panose="02020603050405020304" pitchFamily="18" charset="0"/>
                <a:cs typeface="Times New Roman" panose="02020603050405020304" pitchFamily="18" charset="0"/>
              </a:rPr>
              <a:t>MALLAREDDY ENGINEERING FOR WOMEN</a:t>
            </a:r>
          </a:p>
          <a:p>
            <a:endParaRPr lang="en-IN" dirty="0"/>
          </a:p>
        </p:txBody>
      </p:sp>
    </p:spTree>
    <p:extLst>
      <p:ext uri="{BB962C8B-B14F-4D97-AF65-F5344CB8AC3E}">
        <p14:creationId xmlns:p14="http://schemas.microsoft.com/office/powerpoint/2010/main" val="1651568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1660D-88C9-EA24-EA67-AFFD07F8876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8411BA38-D5BE-C15E-C3B0-B9B9A3710339}"/>
              </a:ext>
            </a:extLst>
          </p:cNvPr>
          <p:cNvSpPr>
            <a:spLocks noGrp="1"/>
          </p:cNvSpPr>
          <p:nvPr>
            <p:ph sz="quarter" idx="13"/>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Stock Portfolio Tracker is a simple Python application. </a:t>
            </a:r>
          </a:p>
          <a:p>
            <a:pPr>
              <a:lnSpc>
                <a:spcPct val="150000"/>
              </a:lnSpc>
            </a:pPr>
            <a:r>
              <a:rPr lang="en-US" dirty="0">
                <a:latin typeface="Times New Roman" panose="02020603050405020304" pitchFamily="18" charset="0"/>
                <a:cs typeface="Times New Roman" panose="02020603050405020304" pitchFamily="18" charset="0"/>
              </a:rPr>
              <a:t>It calculates the total investment value of stocks. </a:t>
            </a:r>
          </a:p>
          <a:p>
            <a:pPr>
              <a:lnSpc>
                <a:spcPct val="150000"/>
              </a:lnSpc>
            </a:pPr>
            <a:r>
              <a:rPr lang="en-US" dirty="0">
                <a:latin typeface="Times New Roman" panose="02020603050405020304" pitchFamily="18" charset="0"/>
                <a:cs typeface="Times New Roman" panose="02020603050405020304" pitchFamily="18" charset="0"/>
              </a:rPr>
              <a:t>Users enter stock names and quantities. </a:t>
            </a:r>
          </a:p>
          <a:p>
            <a:pPr>
              <a:lnSpc>
                <a:spcPct val="150000"/>
              </a:lnSpc>
            </a:pPr>
            <a:r>
              <a:rPr lang="en-US" dirty="0">
                <a:latin typeface="Times New Roman" panose="02020603050405020304" pitchFamily="18" charset="0"/>
                <a:cs typeface="Times New Roman" panose="02020603050405020304" pitchFamily="18" charset="0"/>
              </a:rPr>
              <a:t>The program uses predefined stock prices</a:t>
            </a:r>
            <a:r>
              <a:rPr lang="en-US" dirty="0"/>
              <a:t>. </a:t>
            </a:r>
          </a:p>
          <a:p>
            <a:endParaRPr lang="en-IN" dirty="0"/>
          </a:p>
        </p:txBody>
      </p:sp>
    </p:spTree>
    <p:extLst>
      <p:ext uri="{BB962C8B-B14F-4D97-AF65-F5344CB8AC3E}">
        <p14:creationId xmlns:p14="http://schemas.microsoft.com/office/powerpoint/2010/main" val="541548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28A35-1E25-4DAF-AAB3-B82BA627A2B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79174736-DC18-C144-E2F9-07B1B5DD5643}"/>
              </a:ext>
            </a:extLst>
          </p:cNvPr>
          <p:cNvSpPr>
            <a:spLocks noGrp="1"/>
          </p:cNvSpPr>
          <p:nvPr>
            <p:ph sz="quarter" idx="13"/>
          </p:nvPr>
        </p:nvSpPr>
        <p:spPr/>
        <p:txBody>
          <a:bodyPr/>
          <a:lstStyle/>
          <a:p>
            <a:pPr marL="0" indent="0">
              <a:lnSpc>
                <a:spcPct val="150000"/>
              </a:lnSpc>
              <a:buNone/>
            </a:pPr>
            <a:r>
              <a:rPr lang="en-US" dirty="0">
                <a:latin typeface="Times New Roman" panose="02020603050405020304" pitchFamily="18" charset="0"/>
                <a:cs typeface="Times New Roman" panose="02020603050405020304" pitchFamily="18" charset="0"/>
              </a:rPr>
              <a:t>The objective of this project is to develop a simple Stock Portfolio Tracker using Python that allows users to enter stock names and quantities, calculates the investment value based on predefined stock prices, and displays the total investment amount. This project helps in understanding dictionaries, user input, loops, and basic arithmetic operations in Python.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819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36651-C2E9-0132-F110-78E473CE728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TOOLS</a:t>
            </a:r>
          </a:p>
        </p:txBody>
      </p:sp>
      <p:sp>
        <p:nvSpPr>
          <p:cNvPr id="3" name="Content Placeholder 2">
            <a:extLst>
              <a:ext uri="{FF2B5EF4-FFF2-40B4-BE49-F238E27FC236}">
                <a16:creationId xmlns:a16="http://schemas.microsoft.com/office/drawing/2014/main" id="{2BE11D61-E85D-1E29-8899-863D9AD94396}"/>
              </a:ext>
            </a:extLst>
          </p:cNvPr>
          <p:cNvSpPr>
            <a:spLocks noGrp="1"/>
          </p:cNvSpPr>
          <p:nvPr>
            <p:ph sz="quarter" idx="13"/>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Python </a:t>
            </a:r>
          </a:p>
          <a:p>
            <a:pPr>
              <a:lnSpc>
                <a:spcPct val="150000"/>
              </a:lnSpc>
            </a:pPr>
            <a:r>
              <a:rPr lang="en-US" dirty="0">
                <a:latin typeface="Times New Roman" panose="02020603050405020304" pitchFamily="18" charset="0"/>
                <a:cs typeface="Times New Roman" panose="02020603050405020304" pitchFamily="18" charset="0"/>
              </a:rPr>
              <a:t>Dictionary </a:t>
            </a:r>
          </a:p>
          <a:p>
            <a:pPr>
              <a:lnSpc>
                <a:spcPct val="150000"/>
              </a:lnSpc>
            </a:pPr>
            <a:r>
              <a:rPr lang="en-US" dirty="0">
                <a:latin typeface="Times New Roman" panose="02020603050405020304" pitchFamily="18" charset="0"/>
                <a:cs typeface="Times New Roman" panose="02020603050405020304" pitchFamily="18" charset="0"/>
              </a:rPr>
              <a:t>Input/Output Functions </a:t>
            </a:r>
          </a:p>
          <a:p>
            <a:pPr>
              <a:lnSpc>
                <a:spcPct val="150000"/>
              </a:lnSpc>
            </a:pPr>
            <a:r>
              <a:rPr lang="en-US" dirty="0">
                <a:latin typeface="Times New Roman" panose="02020603050405020304" pitchFamily="18" charset="0"/>
                <a:cs typeface="Times New Roman" panose="02020603050405020304" pitchFamily="18" charset="0"/>
              </a:rPr>
              <a:t>Basic Arithmetic Operations </a:t>
            </a:r>
          </a:p>
          <a:p>
            <a:endParaRPr lang="en-IN" dirty="0"/>
          </a:p>
        </p:txBody>
      </p:sp>
    </p:spTree>
    <p:extLst>
      <p:ext uri="{BB962C8B-B14F-4D97-AF65-F5344CB8AC3E}">
        <p14:creationId xmlns:p14="http://schemas.microsoft.com/office/powerpoint/2010/main" val="1481436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469F7-E0C1-FE83-0FD1-0509DD6C483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REQUIREMENTS</a:t>
            </a:r>
          </a:p>
        </p:txBody>
      </p:sp>
      <p:sp>
        <p:nvSpPr>
          <p:cNvPr id="3" name="Content Placeholder 2">
            <a:extLst>
              <a:ext uri="{FF2B5EF4-FFF2-40B4-BE49-F238E27FC236}">
                <a16:creationId xmlns:a16="http://schemas.microsoft.com/office/drawing/2014/main" id="{3216B84F-3112-9D36-CE10-A7B90547EC5A}"/>
              </a:ext>
            </a:extLst>
          </p:cNvPr>
          <p:cNvSpPr>
            <a:spLocks noGrp="1"/>
          </p:cNvSpPr>
          <p:nvPr>
            <p:ph sz="quarter" idx="13"/>
          </p:nvPr>
        </p:nvSpPr>
        <p:spPr/>
        <p:txBody>
          <a:bodyPr/>
          <a:lstStyle/>
          <a:p>
            <a:r>
              <a:rPr lang="en-US" dirty="0">
                <a:latin typeface="Times New Roman" panose="02020603050405020304" pitchFamily="18" charset="0"/>
                <a:cs typeface="Times New Roman" panose="02020603050405020304" pitchFamily="18" charset="0"/>
              </a:rPr>
              <a:t>Python 3.x </a:t>
            </a:r>
          </a:p>
          <a:p>
            <a:r>
              <a:rPr lang="en-US" dirty="0">
                <a:latin typeface="Times New Roman" panose="02020603050405020304" pitchFamily="18" charset="0"/>
                <a:cs typeface="Times New Roman" panose="02020603050405020304" pitchFamily="18" charset="0"/>
              </a:rPr>
              <a:t>Any Python IDE (IDLE, VS Code, PyCharm, etc.)</a:t>
            </a:r>
          </a:p>
          <a:p>
            <a:r>
              <a:rPr lang="en-US" dirty="0">
                <a:latin typeface="Times New Roman" panose="02020603050405020304" pitchFamily="18" charset="0"/>
                <a:cs typeface="Times New Roman" panose="02020603050405020304" pitchFamily="18" charset="0"/>
              </a:rPr>
              <a:t> Basic knowledge of Python programming </a:t>
            </a:r>
          </a:p>
          <a:p>
            <a:r>
              <a:rPr lang="en-US" dirty="0">
                <a:latin typeface="Times New Roman" panose="02020603050405020304" pitchFamily="18" charset="0"/>
                <a:cs typeface="Times New Roman" panose="02020603050405020304" pitchFamily="18" charset="0"/>
              </a:rPr>
              <a:t>Predefined stock price data stored in a dictionary </a:t>
            </a:r>
          </a:p>
          <a:p>
            <a:r>
              <a:rPr lang="en-US" dirty="0">
                <a:latin typeface="Times New Roman" panose="02020603050405020304" pitchFamily="18" charset="0"/>
                <a:cs typeface="Times New Roman" panose="02020603050405020304" pitchFamily="18" charset="0"/>
              </a:rPr>
              <a:t>Computer/Laptop to run the program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7765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466DA-97EE-C149-F563-54D6187BF0A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WORKING</a:t>
            </a:r>
          </a:p>
        </p:txBody>
      </p:sp>
      <p:sp>
        <p:nvSpPr>
          <p:cNvPr id="3" name="Content Placeholder 2">
            <a:extLst>
              <a:ext uri="{FF2B5EF4-FFF2-40B4-BE49-F238E27FC236}">
                <a16:creationId xmlns:a16="http://schemas.microsoft.com/office/drawing/2014/main" id="{165BEDDA-42E2-0C5A-EDFE-3780FCC09569}"/>
              </a:ext>
            </a:extLst>
          </p:cNvPr>
          <p:cNvSpPr>
            <a:spLocks noGrp="1"/>
          </p:cNvSpPr>
          <p:nvPr>
            <p:ph sz="quarter" idx="13"/>
          </p:nvPr>
        </p:nvSpPr>
        <p:spPr/>
        <p:txBody>
          <a:bodyPr/>
          <a:lstStyle/>
          <a:p>
            <a:r>
              <a:rPr lang="en-US" dirty="0">
                <a:latin typeface="Times New Roman" panose="02020603050405020304" pitchFamily="18" charset="0"/>
                <a:cs typeface="Times New Roman" panose="02020603050405020304" pitchFamily="18" charset="0"/>
              </a:rPr>
              <a:t>Store stock prices in a dictionary. </a:t>
            </a:r>
          </a:p>
          <a:p>
            <a:r>
              <a:rPr lang="en-US" dirty="0">
                <a:latin typeface="Times New Roman" panose="02020603050405020304" pitchFamily="18" charset="0"/>
                <a:cs typeface="Times New Roman" panose="02020603050405020304" pitchFamily="18" charset="0"/>
              </a:rPr>
              <a:t>Take stock name and quantity from user. </a:t>
            </a:r>
          </a:p>
          <a:p>
            <a:r>
              <a:rPr lang="en-US" dirty="0">
                <a:latin typeface="Times New Roman" panose="02020603050405020304" pitchFamily="18" charset="0"/>
                <a:cs typeface="Times New Roman" panose="02020603050405020304" pitchFamily="18" charset="0"/>
              </a:rPr>
              <a:t>Calculate investment value. </a:t>
            </a:r>
          </a:p>
          <a:p>
            <a:r>
              <a:rPr lang="en-US" dirty="0">
                <a:latin typeface="Times New Roman" panose="02020603050405020304" pitchFamily="18" charset="0"/>
                <a:cs typeface="Times New Roman" panose="02020603050405020304" pitchFamily="18" charset="0"/>
              </a:rPr>
              <a:t>Add all values. </a:t>
            </a:r>
          </a:p>
          <a:p>
            <a:r>
              <a:rPr lang="en-US" dirty="0">
                <a:latin typeface="Times New Roman" panose="02020603050405020304" pitchFamily="18" charset="0"/>
                <a:cs typeface="Times New Roman" panose="02020603050405020304" pitchFamily="18" charset="0"/>
              </a:rPr>
              <a:t>Display total investment. </a:t>
            </a:r>
          </a:p>
          <a:p>
            <a:pPr marL="0" indent="0">
              <a:buNone/>
            </a:pPr>
            <a:endParaRPr lang="en-IN" dirty="0"/>
          </a:p>
        </p:txBody>
      </p:sp>
    </p:spTree>
    <p:extLst>
      <p:ext uri="{BB962C8B-B14F-4D97-AF65-F5344CB8AC3E}">
        <p14:creationId xmlns:p14="http://schemas.microsoft.com/office/powerpoint/2010/main" val="1822456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21376-A739-404E-10A5-A1BFA3EA6C7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SOURCE CODE</a:t>
            </a:r>
          </a:p>
        </p:txBody>
      </p:sp>
      <p:sp>
        <p:nvSpPr>
          <p:cNvPr id="3" name="Content Placeholder 2">
            <a:extLst>
              <a:ext uri="{FF2B5EF4-FFF2-40B4-BE49-F238E27FC236}">
                <a16:creationId xmlns:a16="http://schemas.microsoft.com/office/drawing/2014/main" id="{F2A1FDC9-D6AA-0339-BB0F-5D7C63DA3F76}"/>
              </a:ext>
            </a:extLst>
          </p:cNvPr>
          <p:cNvSpPr>
            <a:spLocks noGrp="1"/>
          </p:cNvSpPr>
          <p:nvPr>
            <p:ph sz="quarter" idx="13"/>
          </p:nvPr>
        </p:nvSpPr>
        <p:spPr>
          <a:xfrm>
            <a:off x="913774" y="2133600"/>
            <a:ext cx="10904600" cy="4522839"/>
          </a:xfrm>
        </p:spPr>
        <p:txBody>
          <a:bodyPr>
            <a:normAutofit fontScale="85000" lnSpcReduction="10000"/>
          </a:bodyPr>
          <a:lstStyle/>
          <a:p>
            <a:pPr marL="0" indent="0">
              <a:buNone/>
            </a:pPr>
            <a:r>
              <a:rPr lang="en-IN" dirty="0">
                <a:latin typeface="Times New Roman" panose="02020603050405020304" pitchFamily="18" charset="0"/>
                <a:cs typeface="Times New Roman" panose="02020603050405020304" pitchFamily="18" charset="0"/>
              </a:rPr>
              <a:t>stocks = {</a:t>
            </a:r>
          </a:p>
          <a:p>
            <a:pPr marL="0" indent="0">
              <a:buNone/>
            </a:pPr>
            <a:r>
              <a:rPr lang="en-IN" dirty="0">
                <a:latin typeface="Times New Roman" panose="02020603050405020304" pitchFamily="18" charset="0"/>
                <a:cs typeface="Times New Roman" panose="02020603050405020304" pitchFamily="18" charset="0"/>
              </a:rPr>
              <a:t>    "AAPL": 180,</a:t>
            </a:r>
          </a:p>
          <a:p>
            <a:pPr marL="0" indent="0">
              <a:buNone/>
            </a:pPr>
            <a:r>
              <a:rPr lang="en-IN" dirty="0">
                <a:latin typeface="Times New Roman" panose="02020603050405020304" pitchFamily="18" charset="0"/>
                <a:cs typeface="Times New Roman" panose="02020603050405020304" pitchFamily="18" charset="0"/>
              </a:rPr>
              <a:t>    "TSLA": 250,</a:t>
            </a:r>
          </a:p>
          <a:p>
            <a:pPr marL="0" indent="0">
              <a:buNone/>
            </a:pPr>
            <a:r>
              <a:rPr lang="en-IN" dirty="0">
                <a:latin typeface="Times New Roman" panose="02020603050405020304" pitchFamily="18" charset="0"/>
                <a:cs typeface="Times New Roman" panose="02020603050405020304" pitchFamily="18" charset="0"/>
              </a:rPr>
              <a:t>    "GOOGLE": 150,</a:t>
            </a:r>
          </a:p>
          <a:p>
            <a:pPr marL="0" indent="0">
              <a:buNone/>
            </a:pPr>
            <a:r>
              <a:rPr lang="en-IN" dirty="0">
                <a:latin typeface="Times New Roman" panose="02020603050405020304" pitchFamily="18" charset="0"/>
                <a:cs typeface="Times New Roman" panose="02020603050405020304" pitchFamily="18" charset="0"/>
              </a:rPr>
              <a:t>    "MSFT": 300</a:t>
            </a:r>
          </a:p>
          <a:p>
            <a:pPr marL="0" indent="0">
              <a:buNone/>
            </a:pP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total = 0</a:t>
            </a:r>
          </a:p>
          <a:p>
            <a:pPr marL="0" indent="0">
              <a:buNone/>
            </a:pPr>
            <a:r>
              <a:rPr lang="en-IN" dirty="0">
                <a:latin typeface="Times New Roman" panose="02020603050405020304" pitchFamily="18" charset="0"/>
                <a:cs typeface="Times New Roman" panose="02020603050405020304" pitchFamily="18" charset="0"/>
              </a:rPr>
              <a:t>print("Stock Portfolio Tracker")</a:t>
            </a:r>
          </a:p>
          <a:p>
            <a:pPr marL="0" indent="0">
              <a:buNone/>
            </a:pPr>
            <a:r>
              <a:rPr lang="en-IN" dirty="0">
                <a:latin typeface="Times New Roman" panose="02020603050405020304" pitchFamily="18" charset="0"/>
                <a:cs typeface="Times New Roman" panose="02020603050405020304" pitchFamily="18" charset="0"/>
              </a:rPr>
              <a:t>for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in range(2):</a:t>
            </a:r>
          </a:p>
          <a:p>
            <a:pPr marL="0" indent="0">
              <a:buNone/>
            </a:pPr>
            <a:r>
              <a:rPr lang="en-IN" dirty="0">
                <a:latin typeface="Times New Roman" panose="02020603050405020304" pitchFamily="18" charset="0"/>
                <a:cs typeface="Times New Roman" panose="02020603050405020304" pitchFamily="18" charset="0"/>
              </a:rPr>
              <a:t>    stock = input("Enter stock name: ").upper()</a:t>
            </a:r>
          </a:p>
          <a:p>
            <a:pPr marL="0" indent="0">
              <a:buNone/>
            </a:pPr>
            <a:r>
              <a:rPr lang="en-IN" dirty="0">
                <a:latin typeface="Times New Roman" panose="02020603050405020304" pitchFamily="18" charset="0"/>
                <a:cs typeface="Times New Roman" panose="02020603050405020304" pitchFamily="18" charset="0"/>
              </a:rPr>
              <a:t>    quantity = int(input("Enter quantity: "))</a:t>
            </a:r>
          </a:p>
          <a:p>
            <a:endParaRPr lang="en-IN" dirty="0"/>
          </a:p>
          <a:p>
            <a:endParaRPr lang="en-IN" dirty="0"/>
          </a:p>
        </p:txBody>
      </p:sp>
    </p:spTree>
    <p:extLst>
      <p:ext uri="{BB962C8B-B14F-4D97-AF65-F5344CB8AC3E}">
        <p14:creationId xmlns:p14="http://schemas.microsoft.com/office/powerpoint/2010/main" val="717320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3217B-A0AD-2387-894E-D466B6AE55C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SOURCE CODE</a:t>
            </a:r>
          </a:p>
        </p:txBody>
      </p:sp>
      <p:sp>
        <p:nvSpPr>
          <p:cNvPr id="3" name="Content Placeholder 2">
            <a:extLst>
              <a:ext uri="{FF2B5EF4-FFF2-40B4-BE49-F238E27FC236}">
                <a16:creationId xmlns:a16="http://schemas.microsoft.com/office/drawing/2014/main" id="{6CA9853D-4CCF-6657-8A0A-F92A1236412E}"/>
              </a:ext>
            </a:extLst>
          </p:cNvPr>
          <p:cNvSpPr>
            <a:spLocks noGrp="1"/>
          </p:cNvSpPr>
          <p:nvPr>
            <p:ph sz="quarter" idx="13"/>
          </p:nvPr>
        </p:nvSpPr>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if stock in stocks:</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value = stocks[stock] * quantity</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total = total + value</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print("Value =", value)</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else: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print("Stock not found")</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print("Total Investment =", total)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5943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8006D-0B14-725A-D270-A33DEC34BC8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OUTPUT</a:t>
            </a:r>
          </a:p>
        </p:txBody>
      </p:sp>
      <p:pic>
        <p:nvPicPr>
          <p:cNvPr id="5" name="Content Placeholder 4">
            <a:extLst>
              <a:ext uri="{FF2B5EF4-FFF2-40B4-BE49-F238E27FC236}">
                <a16:creationId xmlns:a16="http://schemas.microsoft.com/office/drawing/2014/main" id="{FA6BDDC9-0B0D-F64A-9447-7DDFDD87E77D}"/>
              </a:ext>
            </a:extLst>
          </p:cNvPr>
          <p:cNvPicPr>
            <a:picLocks noGrp="1" noChangeAspect="1"/>
          </p:cNvPicPr>
          <p:nvPr>
            <p:ph sz="quarter" idx="13"/>
          </p:nvPr>
        </p:nvPicPr>
        <p:blipFill>
          <a:blip r:embed="rId2"/>
          <a:stretch>
            <a:fillRect/>
          </a:stretch>
        </p:blipFill>
        <p:spPr>
          <a:xfrm>
            <a:off x="2153265" y="2428569"/>
            <a:ext cx="7482348" cy="3519948"/>
          </a:xfrm>
          <a:prstGeom prst="rect">
            <a:avLst/>
          </a:prstGeom>
        </p:spPr>
      </p:pic>
    </p:spTree>
    <p:extLst>
      <p:ext uri="{BB962C8B-B14F-4D97-AF65-F5344CB8AC3E}">
        <p14:creationId xmlns:p14="http://schemas.microsoft.com/office/powerpoint/2010/main" val="1031623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C45EA-D6F4-0C08-7015-ED04229502A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ADVANTAGES</a:t>
            </a:r>
          </a:p>
        </p:txBody>
      </p:sp>
      <p:sp>
        <p:nvSpPr>
          <p:cNvPr id="3" name="Content Placeholder 2">
            <a:extLst>
              <a:ext uri="{FF2B5EF4-FFF2-40B4-BE49-F238E27FC236}">
                <a16:creationId xmlns:a16="http://schemas.microsoft.com/office/drawing/2014/main" id="{C24C6A94-88CD-6017-7EFC-934F442617AC}"/>
              </a:ext>
            </a:extLst>
          </p:cNvPr>
          <p:cNvSpPr>
            <a:spLocks noGrp="1"/>
          </p:cNvSpPr>
          <p:nvPr>
            <p:ph sz="quarter" idx="13"/>
          </p:nvPr>
        </p:nvSpPr>
        <p:spPr/>
        <p:txBody>
          <a:bodyPr/>
          <a:lstStyle/>
          <a:p>
            <a:r>
              <a:rPr lang="en-US" dirty="0">
                <a:latin typeface="Times New Roman" panose="02020603050405020304" pitchFamily="18" charset="0"/>
                <a:cs typeface="Times New Roman" panose="02020603050405020304" pitchFamily="18" charset="0"/>
              </a:rPr>
              <a:t>Simple and easy to use. </a:t>
            </a:r>
          </a:p>
          <a:p>
            <a:r>
              <a:rPr lang="en-US" dirty="0">
                <a:latin typeface="Times New Roman" panose="02020603050405020304" pitchFamily="18" charset="0"/>
                <a:cs typeface="Times New Roman" panose="02020603050405020304" pitchFamily="18" charset="0"/>
              </a:rPr>
              <a:t>Calculates total investment quickly. </a:t>
            </a:r>
          </a:p>
          <a:p>
            <a:r>
              <a:rPr lang="en-US" dirty="0">
                <a:latin typeface="Times New Roman" panose="02020603050405020304" pitchFamily="18" charset="0"/>
                <a:cs typeface="Times New Roman" panose="02020603050405020304" pitchFamily="18" charset="0"/>
              </a:rPr>
              <a:t>Reduces manual calculation errors. </a:t>
            </a:r>
          </a:p>
          <a:p>
            <a:r>
              <a:rPr lang="en-US" dirty="0">
                <a:latin typeface="Times New Roman" panose="02020603050405020304" pitchFamily="18" charset="0"/>
                <a:cs typeface="Times New Roman" panose="02020603050405020304" pitchFamily="18" charset="0"/>
              </a:rPr>
              <a:t>Helps users track their stock investments. </a:t>
            </a:r>
          </a:p>
          <a:p>
            <a:r>
              <a:rPr lang="en-US" dirty="0">
                <a:latin typeface="Times New Roman" panose="02020603050405020304" pitchFamily="18" charset="0"/>
                <a:cs typeface="Times New Roman" panose="02020603050405020304" pitchFamily="18" charset="0"/>
              </a:rPr>
              <a:t>Uses basic Python concepts, making it beginner-friendly. </a:t>
            </a:r>
          </a:p>
          <a:p>
            <a:r>
              <a:rPr lang="en-US" dirty="0">
                <a:latin typeface="Times New Roman" panose="02020603050405020304" pitchFamily="18" charset="0"/>
                <a:cs typeface="Times New Roman" panose="02020603050405020304" pitchFamily="18" charset="0"/>
              </a:rPr>
              <a:t>Can be enhanced in the future with real-time stock prices and more features. </a:t>
            </a:r>
          </a:p>
          <a:p>
            <a:endParaRPr lang="en-IN" dirty="0"/>
          </a:p>
        </p:txBody>
      </p:sp>
    </p:spTree>
    <p:extLst>
      <p:ext uri="{BB962C8B-B14F-4D97-AF65-F5344CB8AC3E}">
        <p14:creationId xmlns:p14="http://schemas.microsoft.com/office/powerpoint/2010/main" val="3187782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EECB0-850D-697A-66AD-55998510323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LIMITATIONS</a:t>
            </a:r>
          </a:p>
        </p:txBody>
      </p:sp>
      <p:sp>
        <p:nvSpPr>
          <p:cNvPr id="3" name="Content Placeholder 2">
            <a:extLst>
              <a:ext uri="{FF2B5EF4-FFF2-40B4-BE49-F238E27FC236}">
                <a16:creationId xmlns:a16="http://schemas.microsoft.com/office/drawing/2014/main" id="{2768F0EC-EA84-4BB4-CCA5-61F710420467}"/>
              </a:ext>
            </a:extLst>
          </p:cNvPr>
          <p:cNvSpPr>
            <a:spLocks noGrp="1"/>
          </p:cNvSpPr>
          <p:nvPr>
            <p:ph sz="quarter" idx="13"/>
          </p:nvPr>
        </p:nvSpPr>
        <p:spPr/>
        <p:txBody>
          <a:bodyPr/>
          <a:lstStyle/>
          <a:p>
            <a:r>
              <a:rPr lang="en-US" dirty="0">
                <a:latin typeface="Times New Roman" panose="02020603050405020304" pitchFamily="18" charset="0"/>
                <a:cs typeface="Times New Roman" panose="02020603050405020304" pitchFamily="18" charset="0"/>
              </a:rPr>
              <a:t>Uses only predefined stock prices.</a:t>
            </a:r>
          </a:p>
          <a:p>
            <a:r>
              <a:rPr lang="en-US" dirty="0">
                <a:latin typeface="Times New Roman" panose="02020603050405020304" pitchFamily="18" charset="0"/>
                <a:cs typeface="Times New Roman" panose="02020603050405020304" pitchFamily="18" charset="0"/>
              </a:rPr>
              <a:t> Does not fetch real-time stock market data. </a:t>
            </a:r>
          </a:p>
          <a:p>
            <a:r>
              <a:rPr lang="en-US" dirty="0">
                <a:latin typeface="Times New Roman" panose="02020603050405020304" pitchFamily="18" charset="0"/>
                <a:cs typeface="Times New Roman" panose="02020603050405020304" pitchFamily="18" charset="0"/>
              </a:rPr>
              <a:t>Supports only a limited number of stocks. </a:t>
            </a:r>
          </a:p>
          <a:p>
            <a:r>
              <a:rPr lang="en-US" dirty="0">
                <a:latin typeface="Times New Roman" panose="02020603050405020304" pitchFamily="18" charset="0"/>
                <a:cs typeface="Times New Roman" panose="02020603050405020304" pitchFamily="18" charset="0"/>
              </a:rPr>
              <a:t>No graphical user interface (GUI). </a:t>
            </a:r>
          </a:p>
          <a:p>
            <a:r>
              <a:rPr lang="en-US" dirty="0">
                <a:latin typeface="Times New Roman" panose="02020603050405020304" pitchFamily="18" charset="0"/>
                <a:cs typeface="Times New Roman" panose="02020603050405020304" pitchFamily="18" charset="0"/>
              </a:rPr>
              <a:t>Investment data is not stored permanently unless file handling is added. </a:t>
            </a:r>
          </a:p>
          <a:p>
            <a:r>
              <a:rPr lang="en-US" dirty="0">
                <a:latin typeface="Times New Roman" panose="02020603050405020304" pitchFamily="18" charset="0"/>
                <a:cs typeface="Times New Roman" panose="02020603050405020304" pitchFamily="18" charset="0"/>
              </a:rPr>
              <a:t>Does not calculate profit, loss, or market trends.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1554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3CF1C-24F4-CBB5-1A84-E44EC102BD0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97BAF470-7738-21A4-C66B-E0F9AD7CFE5F}"/>
              </a:ext>
            </a:extLst>
          </p:cNvPr>
          <p:cNvSpPr>
            <a:spLocks noGrp="1"/>
          </p:cNvSpPr>
          <p:nvPr>
            <p:ph sz="quarter" idx="13"/>
          </p:nvPr>
        </p:nvSpPr>
        <p:spPr/>
        <p:txBody>
          <a:bodyPr/>
          <a:lstStyle/>
          <a:p>
            <a:pPr marL="0" indent="0">
              <a:lnSpc>
                <a:spcPct val="150000"/>
              </a:lnSpc>
              <a:buNone/>
            </a:pPr>
            <a:r>
              <a:rPr lang="en-US" dirty="0">
                <a:latin typeface="Times New Roman" panose="02020603050405020304" pitchFamily="18" charset="0"/>
                <a:cs typeface="Times New Roman" panose="02020603050405020304" pitchFamily="18" charset="0"/>
              </a:rPr>
              <a:t>The Stock Portfolio Tracker was successfully developed using Python. It allows users to enter stock names and quantities, calculates the investment value, and displays the total investment amount. This project helped in understanding Python concepts such as dictionaries, loops, user input, and arithmetic operations while providing a simple way to track stock investments.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4337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B680D-DFF3-59F1-A4A3-404FC795CDC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FUTURE ENHANCEMENTS</a:t>
            </a:r>
          </a:p>
        </p:txBody>
      </p:sp>
      <p:sp>
        <p:nvSpPr>
          <p:cNvPr id="3" name="Content Placeholder 2">
            <a:extLst>
              <a:ext uri="{FF2B5EF4-FFF2-40B4-BE49-F238E27FC236}">
                <a16:creationId xmlns:a16="http://schemas.microsoft.com/office/drawing/2014/main" id="{BE65632A-478F-D9F9-6192-0C6E2E4F573E}"/>
              </a:ext>
            </a:extLst>
          </p:cNvPr>
          <p:cNvSpPr>
            <a:spLocks noGrp="1"/>
          </p:cNvSpPr>
          <p:nvPr>
            <p:ph sz="quarter" idx="13"/>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Add real-time stock prices using APIs.</a:t>
            </a:r>
          </a:p>
          <a:p>
            <a:pPr>
              <a:lnSpc>
                <a:spcPct val="150000"/>
              </a:lnSpc>
            </a:pPr>
            <a:r>
              <a:rPr lang="en-US" dirty="0">
                <a:latin typeface="Times New Roman" panose="02020603050405020304" pitchFamily="18" charset="0"/>
                <a:cs typeface="Times New Roman" panose="02020603050405020304" pitchFamily="18" charset="0"/>
              </a:rPr>
              <a:t> Develop a graphical user interface (GUI). </a:t>
            </a:r>
          </a:p>
          <a:p>
            <a:pPr>
              <a:lnSpc>
                <a:spcPct val="150000"/>
              </a:lnSpc>
            </a:pPr>
            <a:r>
              <a:rPr lang="en-US" dirty="0">
                <a:latin typeface="Times New Roman" panose="02020603050405020304" pitchFamily="18" charset="0"/>
                <a:cs typeface="Times New Roman" panose="02020603050405020304" pitchFamily="18" charset="0"/>
              </a:rPr>
              <a:t>Store portfolio data in a database. </a:t>
            </a:r>
          </a:p>
          <a:p>
            <a:pPr>
              <a:lnSpc>
                <a:spcPct val="150000"/>
              </a:lnSpc>
            </a:pPr>
            <a:r>
              <a:rPr lang="en-US" dirty="0">
                <a:latin typeface="Times New Roman" panose="02020603050405020304" pitchFamily="18" charset="0"/>
                <a:cs typeface="Times New Roman" panose="02020603050405020304" pitchFamily="18" charset="0"/>
              </a:rPr>
              <a:t>Calculate profit and loss automatically. </a:t>
            </a:r>
          </a:p>
          <a:p>
            <a:pPr>
              <a:lnSpc>
                <a:spcPct val="150000"/>
              </a:lnSpc>
            </a:pPr>
            <a:r>
              <a:rPr lang="en-US" dirty="0">
                <a:latin typeface="Times New Roman" panose="02020603050405020304" pitchFamily="18" charset="0"/>
                <a:cs typeface="Times New Roman" panose="02020603050405020304" pitchFamily="18" charset="0"/>
              </a:rPr>
              <a:t>Support more stocks and investment options. </a:t>
            </a:r>
          </a:p>
          <a:p>
            <a:pPr>
              <a:lnSpc>
                <a:spcPct val="150000"/>
              </a:lnSpc>
            </a:pPr>
            <a:r>
              <a:rPr lang="en-US" dirty="0">
                <a:latin typeface="Times New Roman" panose="02020603050405020304" pitchFamily="18" charset="0"/>
                <a:cs typeface="Times New Roman" panose="02020603050405020304" pitchFamily="18" charset="0"/>
              </a:rPr>
              <a:t>Generate reports and charts for better analysis.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5440863"/>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{A77F55ED-EA64-4B44-A4E0-258F16FDD4F3}TF62d0d592-7ac2-4846-a919-75806e8bead49553d537-f813ce055067</Template>
  <TotalTime>15</TotalTime>
  <Words>512</Words>
  <Application>Microsoft Office PowerPoint</Application>
  <PresentationFormat>Widescreen</PresentationFormat>
  <Paragraphs>65</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Times New Roman</vt:lpstr>
      <vt:lpstr>Tw Cen MT</vt:lpstr>
      <vt:lpstr>Droplet</vt:lpstr>
      <vt:lpstr>STOCK PORTFOLIO TRACKER</vt:lpstr>
      <vt:lpstr>INTRODUCTION</vt:lpstr>
      <vt:lpstr>OBJECTIVE</vt:lpstr>
      <vt:lpstr>TOOLS</vt:lpstr>
      <vt:lpstr>REQUIREMENTS</vt:lpstr>
      <vt:lpstr>WORKING</vt:lpstr>
      <vt:lpstr>SOURCE CODE</vt:lpstr>
      <vt:lpstr>SOURCE CODE</vt:lpstr>
      <vt:lpstr>OUTPUT</vt:lpstr>
      <vt:lpstr>ADVANTAGES</vt:lpstr>
      <vt:lpstr>LIMITATIONS</vt:lpstr>
      <vt:lpstr>CONCLUSION</vt:lpstr>
      <vt:lpstr>FUTURE ENHANCEMENTS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spoorthireddydanda@gmail.com</dc:creator>
  <cp:lastModifiedBy>spoorthireddydanda@gmail.com</cp:lastModifiedBy>
  <cp:revision>1</cp:revision>
  <dcterms:created xsi:type="dcterms:W3CDTF">2026-06-03T11:19:55Z</dcterms:created>
  <dcterms:modified xsi:type="dcterms:W3CDTF">2026-06-03T11:35:03Z</dcterms:modified>
</cp:coreProperties>
</file>